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05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6459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16459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4B8A6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6459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21488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21488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214884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6517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26517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4B8A6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26517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822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14B8A6"/>
                </a:solidFill>
              </a:rPr>
              <a:t>Microsoft Fabric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14173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 smtClean="0">
                <a:solidFill>
                  <a:srgbClr val="FFFFFF"/>
                </a:solidFill>
              </a:rPr>
              <a:t>Use Case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</a:rPr>
              <a:t>End-to-End Analytics Pipeline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Lakehouse  →  Warehouse  →  Semantic Model  → 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Presented by </a:t>
            </a:r>
            <a:r>
              <a:rPr lang="en-US" sz="1000" dirty="0" smtClean="0">
                <a:solidFill>
                  <a:srgbClr val="94A3B8"/>
                </a:solidFill>
              </a:rPr>
              <a:t>Vyankat Hambarde </a:t>
            </a:r>
            <a:r>
              <a:rPr lang="en-US" sz="1000" dirty="0">
                <a:solidFill>
                  <a:srgbClr val="94A3B8"/>
                </a:solidFill>
              </a:rPr>
              <a:t>|  </a:t>
            </a:r>
            <a:r>
              <a:rPr lang="en-US" sz="1000" dirty="0" smtClean="0">
                <a:solidFill>
                  <a:srgbClr val="94A3B8"/>
                </a:solidFill>
              </a:rPr>
              <a:t>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We'll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Cover Today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50292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5029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576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0128" y="850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Workspace Setup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856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Lakehouse Creation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51460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51460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587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862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Data Pipeline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352044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352044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867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Data Preparation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50292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50292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576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44768" y="850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Semantic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150876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50876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1856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Dashboard Approaches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251460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51460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2587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4768" y="2862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Modes Comparison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352044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352044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44768" y="3867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Fabric Licenses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Microsoft Fabric?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Microsoft Fabric is an all-in-one analytics platform that unifies data engineering, data integration, data warehousing, real-time analytics, and business intelligence — all on a single SaaS platform built on OneLake.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26517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65960"/>
            <a:ext cx="64008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75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Data Factory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24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ETL &amp; Pipelines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965960"/>
            <a:ext cx="26517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965960"/>
            <a:ext cx="64008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75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Synapse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624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Spark &amp; Notebooks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965960"/>
            <a:ext cx="26517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96596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075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Synapse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Warehouse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624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Analytics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26517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918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01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Synapse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Real-Time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Streaming Analytics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3291840"/>
            <a:ext cx="26517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3291840"/>
            <a:ext cx="64008" cy="11430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401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Power BI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Reporting &amp; BI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3291840"/>
            <a:ext cx="265176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32918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401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Data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Activator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3950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Alerts &amp; Actions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STEP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Create a Workspace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Navigate to app.fabric.microsoft.com and sign in with your Microsoft / organizational account.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9019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Click 'Workspaces' on the left navigation pane, then select '+ New Workspace'.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66090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6609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Enter a workspace name (e.g., 'FabricPOC'), add an optional description, and configure settings.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41985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4198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Under 'License mode', choose Fabric Capacity, Trial, or Premium Per User based on your subscription.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41788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1788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Click Apply. Your new workspace is now ready to host all Fabric items.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1143000"/>
            <a:ext cx="26060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14300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Fabric Trial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15819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60-day free trial with full Fabric capacity access.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423160"/>
            <a:ext cx="26060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42316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License Mode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2862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Set during workspace creation. Can be changed later if needed.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703320"/>
            <a:ext cx="26060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703320"/>
            <a:ext cx="64008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OneLake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142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All items in the workspace share a unified OneLake storage.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STEP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Create Lakehouse &amp; Upload CSV Files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Inside your workspace, click '+ New Item' and select 'Lakehouse'. Enter a name (e.g., 'Sales_Lakehouse').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901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The Lakehouse opens with two sections: 'Files' (raw storage) and 'Tables' (managed Delta tables).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660904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66090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Click on the 'Files' section. Use 'Upload &gt; Upload folder' to upload your entire CSV folder.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41985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41985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Fabric uploads the files to the OneLake Files section. Each CSV becomes accessible as a raw file.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417880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178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Optionally, right-click any CSV file and choose 'Load to Tables' to auto-generate a managed Delta table.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1143000"/>
            <a:ext cx="265176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Lakehouse Architecture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69164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69164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CSV Files Folder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1993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Raw Upload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2258568"/>
            <a:ext cx="45720" cy="1920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245059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450592"/>
            <a:ext cx="54864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496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Files Section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27523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OneLake Storage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52360" y="3017520"/>
            <a:ext cx="45720" cy="1920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20954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209544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255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Delta Tables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35112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Auto-converted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52360" y="3776472"/>
            <a:ext cx="45720" cy="1920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96849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968496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0142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SQL Endpoint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42702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Query-ready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</a:rPr>
              <a:t>STEP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Create Pipeline: Lakehouse → Warehouse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46304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 the workspace, click '+ New Item' → 'Data Pipeline'. Name it (e.g., 'CSV_to_Warehouse_Pipeline').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404872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7249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963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Inside the pipeline canvas, click 'Copy Data' activity or use the template wizard to begin configuration.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66744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398678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75818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Set Source: Choose 'Lakehouse' and browse to your uploaded CSV files or Delta tables in the Files section.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143000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146304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1234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Set Destination: Choose 'Data Warehouse'. Select or create the target Warehouse and map destination tables.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404872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27249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24963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Configure column mappings, data types, and choose write mode: Overwrite, Append, or Merge (Upsert).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666744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398678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75818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Click 'Run' to execute the pipeline. Monitor progress in the Output tab. Schedule as needed.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</a:rPr>
              <a:t>STEP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Preparation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After loading data into the Warehouse, data preparation involves cleaning, transforming, and modeling the data for analysis.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278892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27889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013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SQL Queries in Warehouse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212848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Use the built-in SQL query editor in the Warehouse to write T-SQL for cleaning nulls, fixing data types, renaming columns, and filtering bad records.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664208"/>
            <a:ext cx="278892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664208"/>
            <a:ext cx="27889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8013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Create Views &amp; Stored Procs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212848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Build SQL Views on top of raw tables to create clean, analysis-ready layers. Use stored procedures to automate transformations.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664208"/>
            <a:ext cx="278892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664208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8013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Dataflow Gen2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72784" y="2212848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Use Dataflow Gen2 (Power Query-based) for no-code transformations — pivot, unpivot, merge queries, conditional columns, and data profiling.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278892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9184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2900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Notebooks (Spark / Python)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" y="3840480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Create Fabric Notebooks for complex transformations using PySpark or Python. Read from Lakehouse, transform, and write results back as Delta tables.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18688" y="3291840"/>
            <a:ext cx="278892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329184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342900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 Profiling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28416" y="3840480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Use the built-in data profile tool in the Warehouse to identify column statistics, null counts, distribution, and anomalies before modeling.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63056" y="3291840"/>
            <a:ext cx="278892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3291840"/>
            <a:ext cx="278892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42900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Relationships &amp; Constraints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72784" y="3840480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Define relationships between fact and dimension tables directly in the Warehouse model view to prepare for semantic modeling.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</a:rPr>
              <a:t>STEP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Create Semantic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143000"/>
            <a:ext cx="52120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1430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In the Warehouse, click 'Reporting' tab → 'New semantic model'. Select tables/views to include in the model.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1965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801368"/>
            <a:ext cx="52120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80136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The semantic model opens in a web-based editor. Define relationships by dragging keys between tables (Star Schema).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47802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2459736"/>
            <a:ext cx="52120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45973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Create Measures using DAX (e.g., Total Sales = SUM(Sales[Amount])). Add calculated columns as needed.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13639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118104"/>
            <a:ext cx="52120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11810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Configure hierarchies (e.g., Year &gt; Quarter &gt; Month) for drill-down functionality in reports.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3776472"/>
            <a:ext cx="52120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77647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Set table and column properties: hide technical columns, set format strings, define default aggregations.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45312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434840"/>
            <a:ext cx="52120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4348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Save the model. It is now a reusable Power BI semantic model available across the workspace.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1143000"/>
            <a:ext cx="26060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Sample DAX Measures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1627632"/>
            <a:ext cx="2423160" cy="3063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SUM(Sales[Amount])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Order Value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DIVIDE([Total Sales],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[Order Count])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YTD Revenue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TOTALYTD(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[Total Sales],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Dates[Date])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Growth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DIVIDE([Sales] 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[Sales LY],[Sales LY])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D04"/>
                </a:solidFill>
              </a:rPr>
              <a:t>STEP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 Ways to Build the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We explored three distinct approaches to develop the Power BI dashboard, each with its own workflow, advantages, and trade-offs.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88920" cy="3200400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9164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Fabric Web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(Semantic Model)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Connect → Build in browser → Download .pbix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456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No desktop install required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840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Direct semantic model connection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224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Download &amp; share .pbix 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1691640"/>
            <a:ext cx="2788920" cy="3200400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691640"/>
            <a:ext cx="27889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828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55848" y="22677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Power BI Desktop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(Direct Query)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55848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</a:rPr>
              <a:t>Desktop → Semantic Model → DirectQuery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3456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Real-time data from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3840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No data import to file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4224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Always shows current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63056" y="1691640"/>
            <a:ext cx="2788920" cy="3200400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169164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1828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0216" y="22677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Power BI Desktop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(Import from Warehouse)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0216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Desktop → Warehouse → Import Mode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0216" y="3456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Data cached locally in .pbix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0216" y="3840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Fastest report 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0216" y="4224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✓  </a:t>
            </a:r>
            <a:r>
              <a:rPr lang="en-US" sz="1100" dirty="0">
                <a:solidFill>
                  <a:srgbClr val="94A3B8"/>
                </a:solidFill>
              </a:rPr>
              <a:t>Manual refresh required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APPROACH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Power BI on Fabric — Semantic Model Connection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1615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In the workspace, click '+ New Item' → 'Report' or navigate to the Semantic Model and click 'Create report'.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801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 browser-based Power BI editor opens with the semantic model already connected — no additional setup needed.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45973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Drag and drop fields from the right pane onto the canvas. Use Visualizations panel to choose chart types.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9125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1810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Add slicers, cards, bar charts, line charts, maps as needed. Format visuals using the format pane.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8496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776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Save the report. Then click 'File → Download this file (.pbix)' to download the completed dashboard.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50799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The downloaded .pbix file can be edited further in Power BI Desktop or shared with stakeholders.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💡  Best for: Quick reports without a local Power BI Desktop installation. Great for team collaboration in the browser.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</a:rPr>
              <a:t>APPROACH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Power BI Desktop — DirectQuery via Semantic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1615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Open Power BI Desktop. Click 'Get Data' → 'Power BI semantic models' → Connect to your Fabric workspace.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801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Select the published semantic model from your workspace. Click 'Connect'.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45973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Choose 'DirectQuery' mode when prompted. This means no data is imported — all queries run live against the Warehouse.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91256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1810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The field list from the semantic model appears. Build visuals by dragging fields — same experience as Import mode.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849624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776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Each visual interaction (filter, drill-down) sends a live DAX/SQL query to the Warehouse via the semantic model.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50799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Save and publish the .pbix file. It will always reflect live data without manual refresh.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💡  Best for: Always-live dashboards where real-time accuracy is critical. No data duplication in the .pbix file.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</a:rPr>
              <a:t>APPROACH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Power BI Desktop — Import Mode from Warehouse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1615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Open Power BI Desktop. Click 'Get Data' → 'Microsoft Fabric' → 'Warehouse' (or use Azure SQL endpoint).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801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Enter the Warehouse SQL endpoint URL from the Fabric workspace. Authenticate with your org account.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45973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 navigator window shows all available tables and views. Select the tables needed for the dashboard.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9125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1810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Click 'Import' (not DirectQuery). Power BI copies the data locally into the .pbix file's in-memory model.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84962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776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Build the data model in Power BI: define relationships, create measures in DAX, build hierarchies.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50799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Design the dashboard visuals. The .pbix is self-contained. Schedule refresh in Power BI Service after publishing.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💡  Best for: High-performance dashboards with large models. Full control over modeling. Requires scheduled refresh.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</a:rPr>
              <a:t>STEP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Dashboard Approaches — Comparison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" y="1078992"/>
            <a:ext cx="20116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Criteria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078992"/>
            <a:ext cx="2286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0789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(Fabric Web)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078992"/>
            <a:ext cx="228600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0789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(DQ via Model)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078992"/>
            <a:ext cx="22860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0789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(Import from WH)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1673352"/>
            <a:ext cx="20116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" y="167335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Data Location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94560" y="1673352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9424" y="16733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Live (Semantic Model)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1673352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16733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Live (Warehouse)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673352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6733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Cached in .pbix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093976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" y="209397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Requires Desktop?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9424" y="20939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2093976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20939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Yes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2093976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20939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Yes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2880" y="2514600"/>
            <a:ext cx="20116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51460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94560" y="2514600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9424" y="251460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Moderate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80560" y="2514600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5424" y="251460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Moderate (live queries)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66560" y="2514600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21424" y="251460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Fast (in-memory)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82880" y="293522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9352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Data Freshness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94560" y="293522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9424" y="293522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Always current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80560" y="293522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35424" y="293522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Always current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66560" y="293522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293522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Needs refresh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82880" y="3355848"/>
            <a:ext cx="20116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" y="33558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File Size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194560" y="3355848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49424" y="33558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Small (no data)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480560" y="3355848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35424" y="33558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Small (no data)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66560" y="3355848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33558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Larger (data inside)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82880" y="377647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7744" y="377647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Setup Complexity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194560" y="3776472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49424" y="377647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Low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480560" y="3776472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35424" y="377647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Medium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766560" y="3776472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21424" y="377647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Medium-High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82880" y="4197096"/>
            <a:ext cx="20116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7744" y="419709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Best For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194560" y="4197096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49424" y="419709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Quick web reports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480560" y="4197096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35424" y="419709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Live accuracy needed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766560" y="4197096"/>
            <a:ext cx="22860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21424" y="419709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Max performance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82880" y="461772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7744" y="461772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</a:rPr>
              <a:t>Offline Use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194560" y="4617720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49424" y="461772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480560" y="4617720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35424" y="461772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766560" y="4617720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21424" y="461772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Yes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</a:rPr>
              <a:t>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Pros &amp; Cons — All 3 Approaches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430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Approach 1: Fabric Web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" y="16276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0B981"/>
                </a:solidFill>
              </a:rPr>
              <a:t>✓  ADVANTAGES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9202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No local install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226771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Instantly connected to semantic 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" y="261518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Easy browser-based collaboration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" y="2962656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Download .pbix when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333756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40156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F4444"/>
                </a:solidFill>
              </a:rPr>
              <a:t>✗  DISADVANTAGES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" y="368503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Limited advanced modeling features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" y="400507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Requires Fabric license in browser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" y="432511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Less flexible than Desktop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" y="46451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No offline editing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105156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51560"/>
            <a:ext cx="28346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1430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Approach 2: DirectQuery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10128" y="16276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0B981"/>
                </a:solidFill>
              </a:rPr>
              <a:t>✓  ADVANTAGES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0128" y="19202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Always shows live/current data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226771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No data storage in .pbix file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261518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Ideal for sensitive/regulated 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10128" y="2962656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Leverages semantic model security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0128" y="333756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40156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F4444"/>
                </a:solidFill>
              </a:rPr>
              <a:t>✗  DISADVANTAGES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10128" y="368503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Slower interactive performance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0128" y="400507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Requires internet connection always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10128" y="432511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Limited DAX functions available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10128" y="46451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More load on Warehouse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1051560"/>
            <a:ext cx="283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105156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11430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</a:rPr>
              <a:t>Approach 3: Import Mode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81928" y="16276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0B981"/>
                </a:solidFill>
              </a:rPr>
              <a:t>✓  ADVANTAGES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81928" y="192024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Fastest report performance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81928" y="226771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Works offline after import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81928" y="261518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Full DAX &amp; modeling capability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81928" y="2962656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Rich Power BI Desktop features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81928" y="333756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340156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F4444"/>
                </a:solidFill>
              </a:rPr>
              <a:t>✗  DISADVANTAGES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81928" y="368503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Data can go stale without refresh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81928" y="400507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Larger .pbix file size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81928" y="432511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Requires scheduled refresh setup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81928" y="464515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▸ </a:t>
            </a:r>
            <a:r>
              <a:rPr lang="en-US" sz="1050" dirty="0">
                <a:solidFill>
                  <a:srgbClr val="334155"/>
                </a:solidFill>
              </a:rPr>
              <a:t>Data duplication risk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</a:rPr>
              <a:t>STEP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Microsoft Fabric License Tiers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20574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97280"/>
            <a:ext cx="20574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Free / Trial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1828800" cy="274320"/>
          </a:xfrm>
          <a:prstGeom prst="rect">
            <a:avLst/>
          </a:prstGeom>
          <a:solidFill>
            <a:srgbClr val="94A3B8">
              <a:alpha val="85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60-day trial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1762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Full Fabric features in trial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26334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OneLake storage included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30906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Fabric capacity access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35478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No credit card required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40050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Expires after 60 days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77440" y="1097280"/>
            <a:ext cx="20574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77440" y="1097280"/>
            <a:ext cx="20574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Power BI Pro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1783080"/>
            <a:ext cx="1828800" cy="27432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~$10/user/month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21762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Power BI reports &amp; dashboards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68880" y="26334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Workspace collaboration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30906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No Fabric workloads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68880" y="35478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Paginated reports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68880" y="40050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8GB storage/user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20574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097280"/>
            <a:ext cx="20574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Premium Per User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783080"/>
            <a:ext cx="1828800" cy="274320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~$20/user/month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1762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All Pro features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26334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Fabric workloads enabled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30906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Advanced AI features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63440" y="35478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Unlimited storage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63440" y="40050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XMLA endpoint access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66560" y="1097280"/>
            <a:ext cx="20574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66560" y="1097280"/>
            <a:ext cx="20574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Fabric Capacity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(F SKUs)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0" y="1783080"/>
            <a:ext cx="1828800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F2–F2048 SKUs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21762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Shared capacity for org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58000" y="26334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All Fabric workloads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58000" y="30906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Autoscale available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58000" y="35478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Pay-as-you-go option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58000" y="400507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Enterprise-grade SLA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</a:rPr>
              <a:t>LICENSE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License Pros &amp; Cons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42519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Free / Trial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PROS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Zero cost to evaluate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Full Fabric feature access during trial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Quick setup, no procurement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</a:rPr>
              <a:t>CONS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17556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Expires in 60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07568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Not suitable for production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39572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No SLA guarantees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51560"/>
            <a:ext cx="4251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430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Power BI Pro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PROS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7556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Low cost per user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07568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Good for BI-only use cases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39572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Wide adoption &amp; familiarity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</a:rPr>
              <a:t>CONS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0" y="175564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No Fabric workloads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07568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Limited to Power BI features only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39572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Not suitable for this POC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04495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044952"/>
            <a:ext cx="4251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1363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Premium Per User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PROS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37490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Fabric workloads enabled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06908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Cost-effective for small teams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38912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Advanced AI &amp; paginated reports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68880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</a:rPr>
              <a:t>CONS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68880" y="37490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Per-user cost can add up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68880" y="406908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Not ideal for large org rollout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68880" y="438912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Consumers still need a license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04495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044952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1363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Fabric Capacity (F SKUs)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PROS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37490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Shared capacity — consumers free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06908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Enterprise-grade performance &amp; SLA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438912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 </a:t>
            </a:r>
            <a:r>
              <a:rPr lang="en-US" sz="1000" dirty="0">
                <a:solidFill>
                  <a:srgbClr val="334155"/>
                </a:solidFill>
              </a:rPr>
              <a:t>Autoscale for peak demand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</a:rPr>
              <a:t>CONS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49440" y="37490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Higher upfront commitment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406908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Requires capacity management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49440" y="438912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− </a:t>
            </a:r>
            <a:r>
              <a:rPr lang="en-US" sz="1000" dirty="0">
                <a:solidFill>
                  <a:srgbClr val="334155"/>
                </a:solidFill>
              </a:rPr>
              <a:t>Complex to size correctly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End-to-End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5087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1508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CSV Files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Folder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Source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737360"/>
            <a:ext cx="21031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61848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93392" y="1188720"/>
            <a:ext cx="15087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188720"/>
            <a:ext cx="1508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Fabric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Lakehouse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Raw Storage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02152" y="1737360"/>
            <a:ext cx="21031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161848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12464" y="1188720"/>
            <a:ext cx="15087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1188720"/>
            <a:ext cx="1508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85616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ETL Transfer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21224" y="1737360"/>
            <a:ext cx="21031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161848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31536" y="1188720"/>
            <a:ext cx="15087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31536" y="1188720"/>
            <a:ext cx="1508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Fabric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Warehouse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04688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SQL Analytics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0296" y="1737360"/>
            <a:ext cx="21031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7456" y="161848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50608" y="1188720"/>
            <a:ext cx="15087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50608" y="1188720"/>
            <a:ext cx="1508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Semantic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DAX &amp; Measures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Dashboard Outputs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26280" y="2423160"/>
            <a:ext cx="45720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971800"/>
            <a:ext cx="2743200" cy="100584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84048" y="3090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Fabric Web Report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84048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Live · Browser-based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18688" y="2971800"/>
            <a:ext cx="2743200" cy="1005840"/>
          </a:xfrm>
          <a:prstGeom prst="rect">
            <a:avLst/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28416" y="3090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Desktop DirectQuery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328416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Live · Power BI Desktop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63056" y="2971800"/>
            <a:ext cx="2743200" cy="100584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72784" y="3090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Desktop Import Mode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72784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Scheduled · Power BI Desktop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133088"/>
            <a:ext cx="8595360" cy="658368"/>
          </a:xfrm>
          <a:prstGeom prst="rect">
            <a:avLst/>
          </a:prstGeom>
          <a:solidFill>
            <a:srgbClr val="0A1628">
              <a:alpha val="9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879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All data stored in OneLake — Microsoft Fabric's unified, single-copy data lake. One security model, one governance layer, one storage across all workloads.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32004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14B8A6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91056" y="3200400"/>
            <a:ext cx="475488" cy="475488"/>
          </a:xfrm>
          <a:prstGeom prst="roundRect">
            <a:avLst>
              <a:gd name="adj" fmla="val 9615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6732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376732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8B5CF6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1056" y="376732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33425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433425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14B8A6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433425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2286000" y="2057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B8A6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286000" y="2724912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926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Recap: </a:t>
            </a:r>
            <a:r>
              <a:rPr lang="en-US" sz="1200" dirty="0">
                <a:solidFill>
                  <a:srgbClr val="94A3B8"/>
                </a:solidFill>
              </a:rPr>
              <a:t>Workspace → Lakehouse → Pipeline → Warehouse → Semantic Model →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429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3 Approaches: </a:t>
            </a:r>
            <a:r>
              <a:rPr lang="en-US" sz="1200" dirty="0">
                <a:solidFill>
                  <a:srgbClr val="94A3B8"/>
                </a:solidFill>
              </a:rPr>
              <a:t>Fabric Web  |  DirectQuery  |  Import Mode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840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Licenses: </a:t>
            </a:r>
            <a:r>
              <a:rPr lang="en-US" sz="1200" dirty="0">
                <a:solidFill>
                  <a:srgbClr val="94A3B8"/>
                </a:solidFill>
              </a:rPr>
              <a:t>Free Trial  |  Pro  |  Premium Per User  |  Fabric F-SKUs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2135</Words>
  <Application>Microsoft Office PowerPoint</Application>
  <PresentationFormat>On-screen Show (16:9)</PresentationFormat>
  <Paragraphs>407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Fabric POC</dc:title>
  <dc:subject>PptxGenJS Presentation</dc:subject>
  <dc:creator>PptxGenJS</dc:creator>
  <cp:lastModifiedBy>Vyankat Hambarde</cp:lastModifiedBy>
  <cp:revision>3</cp:revision>
  <dcterms:created xsi:type="dcterms:W3CDTF">2026-04-26T17:31:40Z</dcterms:created>
  <dcterms:modified xsi:type="dcterms:W3CDTF">2026-05-10T15:24:19Z</dcterms:modified>
</cp:coreProperties>
</file>